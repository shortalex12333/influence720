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2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456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5211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505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309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836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3414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073284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6706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3134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2658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401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6995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876201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21296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01235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19608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536521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4323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56534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30904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03658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961936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3960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96623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7177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1551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375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77928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20613-053F-0201-F0FA-057FD49FA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A4434D-7B7B-0683-892B-0205EA8B4B08}"/>
              </a:ext>
            </a:extLst>
          </p:cNvPr>
          <p:cNvSpPr txBox="1"/>
          <p:nvPr/>
        </p:nvSpPr>
        <p:spPr>
          <a:xfrm>
            <a:off x="3218241" y="2997984"/>
            <a:ext cx="5829634" cy="7310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sz="5400" b="0" i="0" u="none" dirty="0">
                <a:solidFill>
                  <a:srgbClr val="FFFFFF"/>
                </a:solidFill>
              </a:rPr>
              <a:t>Influence</a:t>
            </a:r>
            <a:r>
              <a:rPr lang="en-US" sz="5400" b="0" i="0" u="none" dirty="0">
                <a:solidFill>
                  <a:srgbClr val="FFFFFF"/>
                </a:solidFill>
                <a:latin typeface="Inter ExtraBold"/>
              </a:rPr>
              <a:t> </a:t>
            </a:r>
            <a:r>
              <a:rPr lang="en-US" sz="5400" b="0" i="0" u="none" dirty="0">
                <a:solidFill>
                  <a:srgbClr val="FFFFFF"/>
                </a:solidFill>
                <a:latin typeface="+mj-lt"/>
              </a:rPr>
              <a:t>360</a:t>
            </a:r>
            <a:endParaRPr sz="5400" b="0" i="0" u="none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929A18-D22C-8735-0888-29B71AB2EFA0}"/>
              </a:ext>
            </a:extLst>
          </p:cNvPr>
          <p:cNvSpPr txBox="1"/>
          <p:nvPr/>
        </p:nvSpPr>
        <p:spPr>
          <a:xfrm>
            <a:off x="3319983" y="3729018"/>
            <a:ext cx="5552033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050" b="1" dirty="0">
                <a:latin typeface="Inter Medium"/>
              </a:rPr>
              <a:t>Created by </a:t>
            </a:r>
            <a:r>
              <a:rPr sz="1050" b="1" i="0" u="none" dirty="0">
                <a:solidFill>
                  <a:srgbClr val="00B0F0"/>
                </a:solidFill>
                <a:latin typeface="Inter Medium"/>
              </a:rPr>
              <a:t>A</a:t>
            </a:r>
            <a:r>
              <a:rPr lang="en-US" sz="1050" b="1" i="0" u="none" dirty="0">
                <a:solidFill>
                  <a:srgbClr val="00B0F0"/>
                </a:solidFill>
                <a:latin typeface="Inter Medium"/>
              </a:rPr>
              <a:t>lex Short</a:t>
            </a:r>
            <a:r>
              <a:rPr dirty="0"/>
              <a:t>
</a:t>
            </a:r>
            <a:r>
              <a:rPr sz="1050" b="0" i="0" u="none" dirty="0">
                <a:solidFill>
                  <a:srgbClr val="888888"/>
                </a:solidFill>
                <a:latin typeface="Inter Medium"/>
              </a:rPr>
              <a:t>PCS Producer | Miami, FL</a:t>
            </a:r>
          </a:p>
        </p:txBody>
      </p:sp>
    </p:spTree>
    <p:extLst>
      <p:ext uri="{BB962C8B-B14F-4D97-AF65-F5344CB8AC3E}">
        <p14:creationId xmlns:p14="http://schemas.microsoft.com/office/powerpoint/2010/main" val="1492669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81025" y="771525"/>
            <a:ext cx="582963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00B0F0"/>
                </a:solidFill>
                <a:latin typeface="Inter"/>
              </a:rPr>
              <a:t>INFLUENCE 360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1066800"/>
            <a:ext cx="5829634" cy="14620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sz="5400" b="0" i="0" u="none" dirty="0">
                <a:solidFill>
                  <a:srgbClr val="FFFFFF"/>
                </a:solidFill>
                <a:latin typeface="+mj-lt"/>
              </a:rPr>
              <a:t>Decoding the Ecosystem.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3078360"/>
            <a:ext cx="5361533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FFFFFF"/>
                </a:solidFill>
              </a:rPr>
              <a:t>A structured knowledge graph mapping every relationship that shapes a yacht ownership journey — from day zero to the final sale.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1025" y="3078360"/>
            <a:ext cx="38100" cy="85725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B0F0"/>
              </a:solidFill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0808" y="485775"/>
            <a:ext cx="4525267" cy="5886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6343650"/>
            <a:ext cx="11220450" cy="266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4371975"/>
            <a:ext cx="5324475" cy="19526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5775" y="250846"/>
            <a:ext cx="11220450" cy="1269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 dirty="0">
                <a:solidFill>
                  <a:srgbClr val="000000"/>
                </a:solidFill>
                <a:latin typeface="Inter"/>
              </a:rPr>
              <a:t>INFLUENCE 360 — FRAMEWORK </a:t>
            </a:r>
            <a:r>
              <a:rPr sz="825" b="1" i="0" u="none" dirty="0">
                <a:solidFill>
                  <a:srgbClr val="0070C0"/>
                </a:solidFill>
                <a:latin typeface="Inter"/>
              </a:rPr>
              <a:t>STRICTLY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571500"/>
            <a:ext cx="10267950" cy="6270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sz="1950" b="0" i="0" u="none" dirty="0">
                <a:solidFill>
                  <a:srgbClr val="000000"/>
                </a:solidFill>
              </a:rPr>
              <a:t>The UHNW ecosystem is opaque. Influence 360 identifies </a:t>
            </a:r>
            <a:r>
              <a:rPr sz="1950" b="0" i="0" u="none" dirty="0">
                <a:solidFill>
                  <a:srgbClr val="0070C0"/>
                </a:solidFill>
              </a:rPr>
              <a:t>decision-drivers</a:t>
            </a:r>
            <a:r>
              <a:rPr sz="1950" b="0" i="0" u="none" dirty="0">
                <a:solidFill>
                  <a:srgbClr val="000000"/>
                </a:solidFill>
              </a:rPr>
              <a:t> versus passive advisors to find actionable beach heads.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5775" y="1358205"/>
            <a:ext cx="1122045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5775" y="6496050"/>
            <a:ext cx="14287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111111"/>
                </a:solidFill>
                <a:latin typeface="Inter Medium"/>
              </a:rPr>
              <a:t>Prepared for Executive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91925" y="6496050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111111"/>
                </a:solidFill>
                <a:latin typeface="Inter Medium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775" y="1710630"/>
            <a:ext cx="559069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0070C0"/>
                </a:solidFill>
                <a:latin typeface="Inter"/>
              </a:rPr>
              <a:t>THE REALITY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775" y="2005905"/>
            <a:ext cx="5590698" cy="9746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3600" b="0" i="0" u="none" dirty="0">
                <a:solidFill>
                  <a:srgbClr val="000000"/>
                </a:solidFill>
                <a:latin typeface="+mj-lt"/>
              </a:rPr>
              <a:t>Not Everyone</a:t>
            </a:r>
            <a:r>
              <a:rPr dirty="0">
                <a:latin typeface="+mj-lt"/>
              </a:rPr>
              <a:t>
</a:t>
            </a:r>
            <a:r>
              <a:rPr sz="3600" b="0" i="0" u="none" dirty="0">
                <a:solidFill>
                  <a:srgbClr val="000000"/>
                </a:solidFill>
                <a:latin typeface="+mj-lt"/>
              </a:rPr>
              <a:t> Is Equal.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775" y="3251596"/>
            <a:ext cx="5324475" cy="436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 dirty="0">
                <a:solidFill>
                  <a:srgbClr val="111111"/>
                </a:solidFill>
              </a:rPr>
              <a:t>In high-stakes yacht transactions, influence is rarely linear. Titles are fundamentally misleading.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775" y="3851671"/>
            <a:ext cx="53244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 dirty="0">
                <a:solidFill>
                  <a:srgbClr val="111111"/>
                </a:solidFill>
              </a:rPr>
              <a:t>The true power nodes—those who dictate operational realities, influence vessel optionality, and sign off on major expenditures—are often hidden behind corporate structures or offshore family offices.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1750" y="4581525"/>
            <a:ext cx="5590698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00000"/>
                </a:solidFill>
                <a:latin typeface="+mj-lt"/>
              </a:rPr>
              <a:t>The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1750" y="4895850"/>
            <a:ext cx="5324475" cy="436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 dirty="0">
                <a:solidFill>
                  <a:srgbClr val="111111"/>
                </a:solidFill>
              </a:rPr>
              <a:t>We mapped the entire stakeholder landscape into a relational database. By assigning specific metrics to every role, we mathematically rank absolute influence over a deal.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1750" y="5724525"/>
            <a:ext cx="5324475" cy="436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 dirty="0">
                <a:solidFill>
                  <a:srgbClr val="111111"/>
                </a:solidFill>
              </a:rPr>
              <a:t>This filters out the noise, allowing us to focus precisely on the key targets required for closing.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6343650"/>
            <a:ext cx="11220450" cy="266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710630"/>
            <a:ext cx="5324475" cy="5324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5775" y="250846"/>
            <a:ext cx="11220450" cy="1269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 dirty="0">
                <a:solidFill>
                  <a:srgbClr val="000000"/>
                </a:solidFill>
                <a:latin typeface="Inter"/>
              </a:rPr>
              <a:t>INFLUENCE 360 — VISUALIZATION </a:t>
            </a:r>
            <a:r>
              <a:rPr sz="825" b="1" i="0" u="none" dirty="0">
                <a:solidFill>
                  <a:srgbClr val="0070C0"/>
                </a:solidFill>
                <a:latin typeface="Inter"/>
              </a:rPr>
              <a:t>STRICTLY</a:t>
            </a:r>
            <a:r>
              <a:rPr sz="825" b="1" i="0" u="none" dirty="0">
                <a:solidFill>
                  <a:srgbClr val="0044FF"/>
                </a:solidFill>
                <a:latin typeface="Inter"/>
              </a:rPr>
              <a:t> </a:t>
            </a:r>
            <a:r>
              <a:rPr sz="825" b="1" i="0" u="none" dirty="0">
                <a:solidFill>
                  <a:srgbClr val="0070C0"/>
                </a:solidFill>
                <a:latin typeface="Inter"/>
              </a:rPr>
              <a:t>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571500"/>
            <a:ext cx="10267950" cy="6174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sz="1950" b="0" i="0" u="none" dirty="0">
                <a:solidFill>
                  <a:srgbClr val="000000"/>
                </a:solidFill>
              </a:rPr>
              <a:t>Visual representation in the UI correlates directly to </a:t>
            </a:r>
            <a:r>
              <a:rPr sz="1950" b="0" i="0" u="none" dirty="0">
                <a:solidFill>
                  <a:srgbClr val="0070C0"/>
                </a:solidFill>
              </a:rPr>
              <a:t>real-world power </a:t>
            </a:r>
            <a:r>
              <a:rPr sz="1950" b="0" i="0" u="none" dirty="0">
                <a:solidFill>
                  <a:srgbClr val="000000"/>
                </a:solidFill>
              </a:rPr>
              <a:t>and proximity to the principal.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5775" y="1358205"/>
            <a:ext cx="1122045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5775" y="6496050"/>
            <a:ext cx="14287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111111"/>
                </a:solidFill>
                <a:latin typeface="Inter Medium"/>
              </a:rPr>
              <a:t>Prepared for Executive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91925" y="6496050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111111"/>
                </a:solidFill>
                <a:latin typeface="Inter Medium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775" y="1710630"/>
            <a:ext cx="559069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0070C0"/>
                </a:solidFill>
                <a:latin typeface="Inter"/>
              </a:rPr>
              <a:t>GRAPH MECHANICS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0" y="2091630"/>
            <a:ext cx="4562475" cy="45624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6275" y="2148780"/>
            <a:ext cx="51339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 dirty="0">
                <a:solidFill>
                  <a:srgbClr val="000000"/>
                </a:solidFill>
              </a:rPr>
              <a:t>Node Proximity (Decision Distance):</a:t>
            </a:r>
            <a:r>
              <a:rPr dirty="0"/>
              <a:t>
</a:t>
            </a:r>
            <a:r>
              <a:rPr sz="1125" b="0" i="0" u="none" dirty="0">
                <a:solidFill>
                  <a:srgbClr val="000000"/>
                </a:solidFill>
              </a:rPr>
              <a:t> The closer a node is to the center (Ring 0), the fewer "hops" it is to the Principal. Proximity dictates access.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75" y="2934592"/>
            <a:ext cx="5133975" cy="632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 dirty="0">
                <a:solidFill>
                  <a:srgbClr val="000000"/>
                </a:solidFill>
              </a:rPr>
              <a:t>Node Radius (Overall Score):</a:t>
            </a:r>
            <a:r>
              <a:rPr dirty="0"/>
              <a:t>
</a:t>
            </a:r>
            <a:r>
              <a:rPr sz="1125" b="0" i="0" u="none" dirty="0">
                <a:solidFill>
                  <a:srgbClr val="000000"/>
                </a:solidFill>
              </a:rPr>
              <a:t> A larger radius reflects a higher influence score. This composite metric combines the weight of their decisions and contact frequency with decision-makers.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" y="3934717"/>
            <a:ext cx="51339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00000"/>
                </a:solidFill>
              </a:rPr>
              <a:t>Interconnectivity:</a:t>
            </a:r>
            <a:r>
              <a:t>
</a:t>
            </a:r>
            <a:r>
              <a:rPr sz="1125" b="0" i="0" u="none">
                <a:solidFill>
                  <a:srgbClr val="000000"/>
                </a:solidFill>
              </a:rPr>
              <a:t> Lines detail exactly who talks to whom, why they talk, and what information flows between them.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275" y="4720530"/>
            <a:ext cx="5133975" cy="414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00000"/>
                </a:solidFill>
              </a:rPr>
              <a:t>Role Context:</a:t>
            </a:r>
            <a:r>
              <a:t>
</a:t>
            </a:r>
            <a:r>
              <a:rPr sz="1125" b="0" i="0" u="none">
                <a:solidFill>
                  <a:srgbClr val="000000"/>
                </a:solidFill>
              </a:rPr>
              <a:t> Every node contains a description of that role's "life" and duties within a transaction.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775" y="2167830"/>
            <a:ext cx="57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i="0" u="none">
                <a:solidFill>
                  <a:srgbClr val="0044FF"/>
                </a:solidFill>
                <a:latin typeface="Inter"/>
              </a:rPr>
              <a:t>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5775" y="2953642"/>
            <a:ext cx="57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i="0" u="none">
                <a:solidFill>
                  <a:srgbClr val="0044FF"/>
                </a:solidFill>
                <a:latin typeface="Inter"/>
              </a:rPr>
              <a:t>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775" y="3953767"/>
            <a:ext cx="57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i="0" u="none">
                <a:solidFill>
                  <a:srgbClr val="0044FF"/>
                </a:solidFill>
                <a:latin typeface="Inter"/>
              </a:rPr>
              <a:t>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775" y="4739580"/>
            <a:ext cx="57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i="0" u="none">
                <a:solidFill>
                  <a:srgbClr val="0044FF"/>
                </a:solidFill>
                <a:latin typeface="Inter"/>
              </a:rPr>
              <a:t>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6343650"/>
            <a:ext cx="11220450" cy="266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244030"/>
            <a:ext cx="3486150" cy="427106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2244030"/>
            <a:ext cx="3486150" cy="427106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0075" y="2244030"/>
            <a:ext cx="3486150" cy="42710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5775" y="250846"/>
            <a:ext cx="11220450" cy="1269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 dirty="0">
                <a:solidFill>
                  <a:srgbClr val="000000"/>
                </a:solidFill>
                <a:latin typeface="Inter"/>
              </a:rPr>
              <a:t>INFLUENCE 360 — TARGETING </a:t>
            </a:r>
            <a:r>
              <a:rPr sz="825" b="1" i="0" u="none" dirty="0">
                <a:solidFill>
                  <a:srgbClr val="0070C0"/>
                </a:solidFill>
                <a:latin typeface="Inter"/>
              </a:rPr>
              <a:t>STRICTLY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571500"/>
            <a:ext cx="10267950" cy="296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sz="1950" b="0" i="0" u="none" dirty="0">
                <a:solidFill>
                  <a:srgbClr val="000000"/>
                </a:solidFill>
              </a:rPr>
              <a:t>Dynamic filtration isolates the exact roles required based on the </a:t>
            </a:r>
            <a:r>
              <a:rPr sz="1950" b="0" i="0" u="none" dirty="0">
                <a:solidFill>
                  <a:srgbClr val="0070C0"/>
                </a:solidFill>
              </a:rPr>
              <a:t>specific parameters </a:t>
            </a:r>
            <a:r>
              <a:rPr sz="1950" b="0" i="0" u="none" dirty="0">
                <a:solidFill>
                  <a:srgbClr val="000000"/>
                </a:solidFill>
              </a:rPr>
              <a:t>of the deal.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5775" y="1358205"/>
            <a:ext cx="1122045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5775" y="1710630"/>
            <a:ext cx="117062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070C0"/>
                </a:solidFill>
                <a:latin typeface="Inter"/>
              </a:rPr>
              <a:t>FILTRATION CAPABILITIES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775" y="6496050"/>
            <a:ext cx="14287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111111"/>
                </a:solidFill>
                <a:latin typeface="Inter Medium"/>
              </a:rPr>
              <a:t>Prepared for Executive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2400" y="6496050"/>
            <a:ext cx="12382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111111"/>
                </a:solidFill>
                <a:latin typeface="Inter Medium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775" y="2453580"/>
            <a:ext cx="3660457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070C0"/>
                </a:solidFill>
              </a:rPr>
              <a:t>Vessel Optionality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775" y="2767905"/>
            <a:ext cx="34861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111111"/>
                </a:solidFill>
              </a:rPr>
              <a:t>Role relevance scales drastically with the boat. The ecosystem for a 24m yacht is vastly different than a 100m gigayacht.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775" y="3596580"/>
            <a:ext cx="3486150" cy="436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111111"/>
                </a:solidFill>
              </a:rPr>
              <a:t>The graph intelligently filters roles in or out based on the target vessel size.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2925" y="2453580"/>
            <a:ext cx="3660457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070C0"/>
                </a:solidFill>
              </a:rPr>
              <a:t>Conflict &amp; Signatory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2925" y="2767905"/>
            <a:ext cx="34861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111111"/>
                </a:solidFill>
              </a:rPr>
              <a:t>We filter by actionable authority. Can they sign the Certificate of Insurance? Are they conditional to a transaction?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2925" y="3596580"/>
            <a:ext cx="3486150" cy="436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111111"/>
                </a:solidFill>
              </a:rPr>
              <a:t>We strip away operational noise to find the legal gatekeepers.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0075" y="2453580"/>
            <a:ext cx="3660457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070C0"/>
                </a:solidFill>
              </a:rPr>
              <a:t>Custom Thresholds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075" y="2767905"/>
            <a:ext cx="34861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111111"/>
                </a:solidFill>
              </a:rPr>
              <a:t>By adjusting parameters for "Contact Frequency" and "COI Weight," we instantly isolate stakeholders who hold severe influence and meet with the decision-maker regularly.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6343650"/>
            <a:ext cx="11220450" cy="266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85775" y="2386905"/>
            <a:ext cx="476250" cy="47625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338512" y="2386905"/>
            <a:ext cx="476250" cy="47625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191250" y="2386905"/>
            <a:ext cx="476250" cy="47625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043987" y="2386905"/>
            <a:ext cx="476250" cy="47625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85775" y="250846"/>
            <a:ext cx="11220450" cy="1269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 dirty="0">
                <a:solidFill>
                  <a:srgbClr val="000000"/>
                </a:solidFill>
                <a:latin typeface="Inter"/>
              </a:rPr>
              <a:t>INFLUENCE 360 — LIFECYCLE </a:t>
            </a:r>
            <a:r>
              <a:rPr sz="825" b="1" i="0" u="none" dirty="0">
                <a:solidFill>
                  <a:srgbClr val="0070C0"/>
                </a:solidFill>
                <a:latin typeface="Inter"/>
              </a:rPr>
              <a:t>STRICTLY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571500"/>
            <a:ext cx="10267950" cy="3064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sz="1950" b="0" i="0" u="none" dirty="0">
                <a:solidFill>
                  <a:srgbClr val="000000"/>
                </a:solidFill>
                <a:latin typeface="+mj-lt"/>
              </a:rPr>
              <a:t>Mapping stakeholder relevance is not static; it spans the entire </a:t>
            </a:r>
            <a:r>
              <a:rPr sz="1950" b="0" i="0" u="none" dirty="0">
                <a:solidFill>
                  <a:srgbClr val="0070C0"/>
                </a:solidFill>
                <a:latin typeface="+mj-lt"/>
              </a:rPr>
              <a:t>7-10 year lifespan </a:t>
            </a:r>
            <a:r>
              <a:rPr sz="1950" b="0" i="0" u="none" dirty="0">
                <a:solidFill>
                  <a:srgbClr val="000000"/>
                </a:solidFill>
                <a:latin typeface="+mj-lt"/>
              </a:rPr>
              <a:t>of the asset.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85775" y="1358205"/>
            <a:ext cx="1122045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5775" y="1710630"/>
            <a:ext cx="117062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070C0"/>
                </a:solidFill>
                <a:latin typeface="Inter"/>
              </a:rPr>
              <a:t>THE JOURNEY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775" y="6496050"/>
            <a:ext cx="14287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111111"/>
                </a:solidFill>
                <a:latin typeface="Inter Medium"/>
              </a:rPr>
              <a:t>Prepared for Executive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91925" y="6496050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111111"/>
                </a:solidFill>
                <a:latin typeface="Inter Medium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775" y="3101280"/>
            <a:ext cx="2595324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070C0"/>
                </a:solidFill>
              </a:rPr>
              <a:t>Day 0: Conception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775" y="3406080"/>
            <a:ext cx="2471737" cy="592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111111"/>
                </a:solidFill>
              </a:rPr>
              <a:t>The UHNW decides to purchase. Family offices, wealth managers, and buyer's brokers dictate the initial brief and financing structure.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8512" y="3101280"/>
            <a:ext cx="2595324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070C0"/>
                </a:solidFill>
              </a:rPr>
              <a:t>Acquisition &amp;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8512" y="3406080"/>
            <a:ext cx="2471737" cy="592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111111"/>
                </a:solidFill>
              </a:rPr>
              <a:t>Maritime lawyers, central agents, surveyors, and shipyard commercial managers handle the heavy transaction and diligence phase.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1250" y="3101280"/>
            <a:ext cx="2595324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070C0"/>
                </a:solidFill>
              </a:rPr>
              <a:t>Operations (Y1-Y8)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1250" y="3406080"/>
            <a:ext cx="2471737" cy="592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111111"/>
                </a:solidFill>
              </a:rPr>
              <a:t>The daily reality. Captains, management companies, DPAs, and purser/crew networks sustain the asset and manage ongoing risk.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3987" y="3101280"/>
            <a:ext cx="2595324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70C0"/>
                </a:solidFill>
              </a:rPr>
              <a:t>Exit &amp; Disposition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987" y="3406080"/>
            <a:ext cx="2471737" cy="594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111111"/>
                </a:solidFill>
              </a:rPr>
              <a:t>Refit yards prep the vessel, escrow agents align, and sales brokers retake the center stage to offload the asset.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5775" y="3354585"/>
            <a:ext cx="1122045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1</TotalTime>
  <Words>590</Words>
  <Application>Microsoft Office PowerPoint</Application>
  <PresentationFormat>Widescreen</PresentationFormat>
  <Paragraphs>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Arial</vt:lpstr>
      <vt:lpstr>Arial Nova Light</vt:lpstr>
      <vt:lpstr>Inter</vt:lpstr>
      <vt:lpstr>Inter ExtraBold</vt:lpstr>
      <vt:lpstr>Inter Medium</vt:lpstr>
      <vt:lpstr>Dark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Short, Alex (MMA)</dc:creator>
  <cp:keywords/>
  <dc:description>generated using python-pptx</dc:description>
  <cp:lastModifiedBy>Short, Alex (MMA)</cp:lastModifiedBy>
  <cp:revision>2</cp:revision>
  <dcterms:created xsi:type="dcterms:W3CDTF">2013-01-27T09:14:16Z</dcterms:created>
  <dcterms:modified xsi:type="dcterms:W3CDTF">2026-08-11T15:51:06Z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f1469a-2c2a-4aee-b92b-090d4c5468ff_Enabled">
    <vt:lpwstr>true</vt:lpwstr>
  </property>
  <property fmtid="{D5CDD505-2E9C-101B-9397-08002B2CF9AE}" pid="3" name="MSIP_Label_38f1469a-2c2a-4aee-b92b-090d4c5468ff_SetDate">
    <vt:lpwstr>2026-08-11T15:50:54Z</vt:lpwstr>
  </property>
  <property fmtid="{D5CDD505-2E9C-101B-9397-08002B2CF9AE}" pid="4" name="MSIP_Label_38f1469a-2c2a-4aee-b92b-090d4c5468ff_Method">
    <vt:lpwstr>Standard</vt:lpwstr>
  </property>
  <property fmtid="{D5CDD505-2E9C-101B-9397-08002B2CF9AE}" pid="5" name="MSIP_Label_38f1469a-2c2a-4aee-b92b-090d4c5468ff_Name">
    <vt:lpwstr>Confidential - Unmarked</vt:lpwstr>
  </property>
  <property fmtid="{D5CDD505-2E9C-101B-9397-08002B2CF9AE}" pid="6" name="MSIP_Label_38f1469a-2c2a-4aee-b92b-090d4c5468ff_SiteId">
    <vt:lpwstr>2a6e6092-73e4-4752-b1a5-477a17f5056d</vt:lpwstr>
  </property>
  <property fmtid="{D5CDD505-2E9C-101B-9397-08002B2CF9AE}" pid="7" name="MSIP_Label_38f1469a-2c2a-4aee-b92b-090d4c5468ff_ActionId">
    <vt:lpwstr>bfc0774e-2521-4680-8f91-fd8c9fc6dc20</vt:lpwstr>
  </property>
  <property fmtid="{D5CDD505-2E9C-101B-9397-08002B2CF9AE}" pid="8" name="MSIP_Label_38f1469a-2c2a-4aee-b92b-090d4c5468ff_ContentBits">
    <vt:lpwstr>0</vt:lpwstr>
  </property>
  <property fmtid="{D5CDD505-2E9C-101B-9397-08002B2CF9AE}" pid="9" name="MSIP_Label_38f1469a-2c2a-4aee-b92b-090d4c5468ff_Tag">
    <vt:lpwstr>10, 3, 0, 1</vt:lpwstr>
  </property>
</Properties>
</file>